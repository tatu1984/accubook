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E5E"/>
                </a:solidFill>
                <a:latin typeface="Calibri"/>
              </a:rPr>
              <a:t>LAUNCHING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87168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Georgia"/>
              </a:rPr>
              <a:t>AccuBook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C9D2DA"/>
                </a:solidFill>
                <a:latin typeface="Calibri"/>
              </a:rPr>
              <a:t>The complete business platform for Indian companies.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73168"/>
            <a:ext cx="1371600" cy="3175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8A939E"/>
                </a:solidFill>
                <a:latin typeface="Calibri"/>
              </a:rPr>
              <a:t>Accounting   ·   GST compliance   ·   Payroll &amp; HR   ·   Inventory   ·   Manufacturing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E5E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2161B"/>
                </a:solidFill>
                <a:latin typeface="Georgia"/>
              </a:rPr>
              <a:t>Four systems. Four bills. One set of books.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1371600" cy="3175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75104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B6672"/>
                </a:solidFill>
                <a:latin typeface="Calibri"/>
              </a:rPr>
              <a:t>A growing Indian business ends up buying its software one problem at a time — and nothing talks to anything else.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71216"/>
            <a:ext cx="68580" cy="6858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88920"/>
            <a:ext cx="1028974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2161B"/>
                </a:solidFill>
                <a:latin typeface="Calibri"/>
              </a:rPr>
              <a:t>Desktop accounting</a:t>
            </a:r>
            <a:r>
              <a:rPr sz="1600">
                <a:solidFill>
                  <a:srgbClr val="5B6672"/>
                </a:solidFill>
                <a:latin typeface="Calibri"/>
              </a:rPr>
              <a:t>  locked to one machine in one office, extra billing for remote access.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419856"/>
            <a:ext cx="68580" cy="6858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337560"/>
            <a:ext cx="1028974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2161B"/>
                </a:solidFill>
                <a:latin typeface="Calibri"/>
              </a:rPr>
              <a:t>A separate payroll platform</a:t>
            </a:r>
            <a:r>
              <a:rPr sz="1600">
                <a:solidFill>
                  <a:srgbClr val="5B6672"/>
                </a:solidFill>
                <a:latin typeface="Calibri"/>
              </a:rPr>
              <a:t>  salary data re-keyed into the books every month.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68496"/>
            <a:ext cx="68580" cy="6858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886200"/>
            <a:ext cx="1028974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2161B"/>
                </a:solidFill>
                <a:latin typeface="Calibri"/>
              </a:rPr>
              <a:t>A separate compliance tool</a:t>
            </a:r>
            <a:r>
              <a:rPr sz="1600">
                <a:solidFill>
                  <a:srgbClr val="5B6672"/>
                </a:solidFill>
                <a:latin typeface="Calibri"/>
              </a:rPr>
              <a:t>  for GST filing and reconciliation.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517136"/>
            <a:ext cx="68580" cy="6858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434840"/>
            <a:ext cx="1028974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2161B"/>
                </a:solidFill>
                <a:latin typeface="Calibri"/>
              </a:rPr>
              <a:t>Spreadsheets</a:t>
            </a:r>
            <a:r>
              <a:rPr sz="1600">
                <a:solidFill>
                  <a:srgbClr val="5B6672"/>
                </a:solidFill>
                <a:latin typeface="Calibri"/>
              </a:rPr>
              <a:t>  holding together everything the three systems don't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138928"/>
            <a:ext cx="10545775" cy="841248"/>
          </a:xfrm>
          <a:prstGeom prst="rect">
            <a:avLst/>
          </a:prstGeom>
          <a:solidFill>
            <a:srgbClr val="E4F0EC"/>
          </a:solidFill>
          <a:ln w="9525">
            <a:solidFill>
              <a:srgbClr val="E4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358384"/>
            <a:ext cx="99056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5B6672"/>
                </a:solidFill>
                <a:latin typeface="Calibri"/>
              </a:rPr>
              <a:t>The result:  </a:t>
            </a:r>
            <a:r>
              <a:rPr sz="1600" b="1">
                <a:solidFill>
                  <a:srgbClr val="0E6E5E"/>
                </a:solidFill>
                <a:latin typeface="Calibri"/>
              </a:rPr>
              <a:t>₹93,000+ a year, three to four vendors, and numbers that never quite reconcile.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E5E"/>
                </a:solidFill>
                <a:latin typeface="Calibr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2161B"/>
                </a:solidFill>
                <a:latin typeface="Georgia"/>
              </a:rPr>
              <a:t>One platform. Every function. One ledger.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1371600" cy="3175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75104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B6672"/>
                </a:solidFill>
                <a:latin typeface="Calibri"/>
              </a:rPr>
              <a:t>Everything posts to the same books in real time — no exports, no imports, no month-end reconciliation between vendors.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52928"/>
            <a:ext cx="247802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52928"/>
            <a:ext cx="24780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090672"/>
            <a:ext cx="21122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161B"/>
                </a:solidFill>
                <a:latin typeface="Calibri"/>
              </a:rPr>
              <a:t>Accounting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General ledger, vouchers,
multi-year books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7288" y="2852928"/>
            <a:ext cx="247802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2852928"/>
            <a:ext cx="24780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3090672"/>
            <a:ext cx="21122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161B"/>
                </a:solidFill>
                <a:latin typeface="Calibri"/>
              </a:rPr>
              <a:t>GST returns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GSTR-1, 3B, 9 and 2B
reconciliation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71616" y="2852928"/>
            <a:ext cx="247802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71616" y="2852928"/>
            <a:ext cx="24780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3090672"/>
            <a:ext cx="21122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161B"/>
                </a:solidFill>
                <a:latin typeface="Calibri"/>
              </a:rPr>
              <a:t>E-invoice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IRN and e-way bill
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95944" y="2852928"/>
            <a:ext cx="247802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95944" y="2852928"/>
            <a:ext cx="24780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7112" y="3090672"/>
            <a:ext cx="21122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161B"/>
                </a:solidFill>
                <a:latin typeface="Calibri"/>
              </a:rPr>
              <a:t>TDS / TCS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Section rules, Form 16A
and 27D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389120"/>
            <a:ext cx="247802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389120"/>
            <a:ext cx="24780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626864"/>
            <a:ext cx="21122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161B"/>
                </a:solidFill>
                <a:latin typeface="Calibri"/>
              </a:rPr>
              <a:t>Banking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Statement import and
auto-reconciliation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47288" y="4389120"/>
            <a:ext cx="247802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47288" y="4389120"/>
            <a:ext cx="24780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8456" y="4626864"/>
            <a:ext cx="21122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161B"/>
                </a:solidFill>
                <a:latin typeface="Calibri"/>
              </a:rPr>
              <a:t>Inventory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Multi-warehouse, weighted
average costing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71616" y="4389120"/>
            <a:ext cx="247802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71616" y="4389120"/>
            <a:ext cx="24780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72784" y="4626864"/>
            <a:ext cx="21122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161B"/>
                </a:solidFill>
                <a:latin typeface="Calibri"/>
              </a:rPr>
              <a:t>Manufacturing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Bill of materials, work
orders, WIP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95944" y="4389120"/>
            <a:ext cx="247802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95944" y="4389120"/>
            <a:ext cx="24780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97112" y="4626864"/>
            <a:ext cx="21122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161B"/>
                </a:solidFill>
                <a:latin typeface="Calibri"/>
              </a:rPr>
              <a:t>Payroll &amp; HR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PF, ESI, PT, TDS,
attendance, leave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272784"/>
            <a:ext cx="1054577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39E"/>
                </a:solidFill>
                <a:latin typeface="Calibri"/>
              </a:rPr>
              <a:t>Also included on every plan: multi-branch, approval workflows, role permissions, full audit trail and a REST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E5E"/>
                </a:solidFill>
                <a:latin typeface="Calibri"/>
              </a:rPr>
              <a:t>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2161B"/>
                </a:solidFill>
                <a:latin typeface="Georgia"/>
              </a:rPr>
              <a:t>Built for the businesses that outgrew their books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1371600" cy="3175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75104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B6672"/>
                </a:solidFill>
                <a:latin typeface="Calibri"/>
              </a:rPr>
              <a:t>Four kinds of company get the most out of AccuBook — usually the ones now running accounting, payroll and stock in three different places.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88920"/>
            <a:ext cx="2478024" cy="2670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24780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3035808"/>
            <a:ext cx="20756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E5E"/>
                </a:solidFill>
                <a:latin typeface="Calibri"/>
              </a:rPr>
              <a:t>TRADING &amp;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3529584"/>
            <a:ext cx="207568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161B"/>
                </a:solidFill>
                <a:latin typeface="Calibri"/>
              </a:rPr>
              <a:t>Wholesalers, distributors
and C&amp;F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2416" y="4443984"/>
            <a:ext cx="548640" cy="19050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4626864"/>
            <a:ext cx="207568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672"/>
                </a:solidFill>
                <a:latin typeface="Calibri"/>
              </a:rPr>
              <a:t>Multi-warehouse stock, party
ledgers and ageing, GST on
every movement.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7288" y="2788920"/>
            <a:ext cx="2478024" cy="2670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7288" y="2788920"/>
            <a:ext cx="24780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3035808"/>
            <a:ext cx="20756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E5E"/>
                </a:solidFill>
                <a:latin typeface="Calibri"/>
              </a:rPr>
              <a:t>MANUFACTURING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3529584"/>
            <a:ext cx="207568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161B"/>
                </a:solidFill>
                <a:latin typeface="Calibri"/>
              </a:rPr>
              <a:t>Job shops, fabricators, food
and FMCG processors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4443984"/>
            <a:ext cx="548640" cy="19050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6744" y="4626864"/>
            <a:ext cx="207568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672"/>
                </a:solidFill>
                <a:latin typeface="Calibri"/>
              </a:rPr>
              <a:t>Bill of materials, work orders,
WIP and true cost per
finished unit.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1616" y="2788920"/>
            <a:ext cx="2478024" cy="2670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2788920"/>
            <a:ext cx="24780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3035808"/>
            <a:ext cx="20756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E5E"/>
                </a:solidFill>
                <a:latin typeface="Calibri"/>
              </a:rPr>
              <a:t>SERVICES &amp; PROFESSIONAL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529584"/>
            <a:ext cx="207568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161B"/>
                </a:solidFill>
                <a:latin typeface="Calibri"/>
              </a:rPr>
              <a:t>Agencies, consultancies
and IT firms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1072" y="4443984"/>
            <a:ext cx="548640" cy="19050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4626864"/>
            <a:ext cx="207568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672"/>
                </a:solidFill>
                <a:latin typeface="Calibri"/>
              </a:rPr>
              <a:t>Project and cost-centre
accounting, recurring billing,
TDS on every payment.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95944" y="2788920"/>
            <a:ext cx="2478024" cy="2670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95944" y="2788920"/>
            <a:ext cx="24780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3035808"/>
            <a:ext cx="20756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E5E"/>
                </a:solidFill>
                <a:latin typeface="Calibri"/>
              </a:rPr>
              <a:t>MULTI-BRANCH &amp; RETAIL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529584"/>
            <a:ext cx="207568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161B"/>
                </a:solidFill>
                <a:latin typeface="Calibri"/>
              </a:rPr>
              <a:t>Chains, franchises and
multi-location businesses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4443984"/>
            <a:ext cx="548640" cy="19050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400" y="4626864"/>
            <a:ext cx="207568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672"/>
                </a:solidFill>
                <a:latin typeface="Calibri"/>
              </a:rPr>
              <a:t>Branch-wise books, approval
chains and consolidated
reporting.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705856"/>
            <a:ext cx="10545775" cy="658368"/>
          </a:xfrm>
          <a:prstGeom prst="rect">
            <a:avLst/>
          </a:prstGeom>
          <a:solidFill>
            <a:srgbClr val="E4F0EC"/>
          </a:solidFill>
          <a:ln w="9525">
            <a:solidFill>
              <a:srgbClr val="E4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870448"/>
            <a:ext cx="9905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>
                <a:solidFill>
                  <a:srgbClr val="5B6672"/>
                </a:solidFill>
                <a:latin typeface="Calibri"/>
              </a:rPr>
              <a:t>Best fit:  </a:t>
            </a:r>
            <a:r>
              <a:rPr sz="1550" b="1">
                <a:solidFill>
                  <a:srgbClr val="0E6E5E"/>
                </a:solidFill>
                <a:latin typeface="Calibri"/>
              </a:rPr>
              <a:t>₹2 crore to ₹100 crore turnover, 5 to 100 people — running accounting, payroll and stock in three different places.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E5E"/>
                </a:solidFill>
                <a:latin typeface="Calibri"/>
              </a:rPr>
              <a:t>WHY WE WIN  ·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2161B"/>
                </a:solidFill>
                <a:latin typeface="Georgia"/>
              </a:rPr>
              <a:t>One system instead of four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1371600" cy="3175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75104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B6672"/>
                </a:solidFill>
                <a:latin typeface="Calibri"/>
              </a:rPr>
              <a:t>Because every module writes to the same ledger, the work that normally happens between systems simply disappears.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62656"/>
            <a:ext cx="68580" cy="6858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880360"/>
            <a:ext cx="1028974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2161B"/>
                </a:solidFill>
                <a:latin typeface="Calibri"/>
              </a:rPr>
              <a:t>Payroll posts itself.</a:t>
            </a:r>
            <a:r>
              <a:rPr sz="1600">
                <a:solidFill>
                  <a:srgbClr val="5B6672"/>
                </a:solidFill>
                <a:latin typeface="Calibri"/>
              </a:rPr>
              <a:t>  Run the month and the salary journal, PF, ESI, PT and TDS entries are already in the books.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675888"/>
            <a:ext cx="68580" cy="6858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593592"/>
            <a:ext cx="1028974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2161B"/>
                </a:solidFill>
                <a:latin typeface="Calibri"/>
              </a:rPr>
              <a:t>Stock revalues itself.</a:t>
            </a:r>
            <a:r>
              <a:rPr sz="1600">
                <a:solidFill>
                  <a:srgbClr val="5B6672"/>
                </a:solidFill>
                <a:latin typeface="Calibri"/>
              </a:rPr>
              <a:t>  Every goods receipt recomputes weighted-average cost and hits the stock ledger.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389120"/>
            <a:ext cx="68580" cy="6858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306824"/>
            <a:ext cx="1028974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2161B"/>
                </a:solidFill>
                <a:latin typeface="Calibri"/>
              </a:rPr>
              <a:t>Returns build themselves.</a:t>
            </a:r>
            <a:r>
              <a:rPr sz="1600">
                <a:solidFill>
                  <a:srgbClr val="5B6672"/>
                </a:solidFill>
                <a:latin typeface="Calibri"/>
              </a:rPr>
              <a:t>  GST returns are computed from the invoices you already raised, not re-entered.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102352"/>
            <a:ext cx="68580" cy="6858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5020056"/>
            <a:ext cx="1028974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1">
                <a:solidFill>
                  <a:srgbClr val="12161B"/>
                </a:solidFill>
                <a:latin typeface="Calibri"/>
              </a:rPr>
              <a:t>One login, one audit trail.</a:t>
            </a:r>
            <a:r>
              <a:rPr sz="1600">
                <a:solidFill>
                  <a:srgbClr val="5B6672"/>
                </a:solidFill>
                <a:latin typeface="Calibri"/>
              </a:rPr>
              <a:t>  Who changed what, when — across accounting, stock, payroll and approvals.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623560"/>
            <a:ext cx="10545775" cy="658368"/>
          </a:xfrm>
          <a:prstGeom prst="rect">
            <a:avLst/>
          </a:prstGeom>
          <a:solidFill>
            <a:srgbClr val="E4F0EC"/>
          </a:solidFill>
          <a:ln w="9525">
            <a:solidFill>
              <a:srgbClr val="E4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788152"/>
            <a:ext cx="9905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6E5E"/>
                </a:solidFill>
                <a:latin typeface="Calibri"/>
              </a:rPr>
              <a:t>No exports. No re-keying. No month-end spent making two systems agree.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E5E"/>
                </a:solidFill>
                <a:latin typeface="Calibri"/>
              </a:rPr>
              <a:t>WHY WE WIN  ·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2161B"/>
                </a:solidFill>
                <a:latin typeface="Georgia"/>
              </a:rPr>
              <a:t>Indian compliance is the product, not an add-on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1371600" cy="3175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75104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B6672"/>
                </a:solidFill>
                <a:latin typeface="Calibri"/>
              </a:rPr>
              <a:t>Built for the statutory calendar an Indian finance team actually works 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98648"/>
            <a:ext cx="82296" cy="82296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161B"/>
                </a:solidFill>
                <a:latin typeface="Calibri"/>
              </a:rPr>
              <a:t>GSTR-1, 3B and 9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>
                <a:solidFill>
                  <a:srgbClr val="5B6672"/>
                </a:solidFill>
                <a:latin typeface="Calibri"/>
              </a:rPr>
              <a:t>computed from your books, exported
as portal-ready JSON.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959352"/>
            <a:ext cx="82296" cy="82296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895344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161B"/>
                </a:solidFill>
                <a:latin typeface="Calibri"/>
              </a:rPr>
              <a:t>GSTR-2B reconciliation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>
                <a:solidFill>
                  <a:srgbClr val="5B6672"/>
                </a:solidFill>
                <a:latin typeface="Calibri"/>
              </a:rPr>
              <a:t>match supplier filings against your
purchase register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020056"/>
            <a:ext cx="82296" cy="82296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956048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161B"/>
                </a:solidFill>
                <a:latin typeface="Calibri"/>
              </a:rPr>
              <a:t>E-invoice and e-way bill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>
                <a:solidFill>
                  <a:srgbClr val="5B6672"/>
                </a:solidFill>
                <a:latin typeface="Calibri"/>
              </a:rPr>
              <a:t>IRN payload and e-way documents
generated from the invoice.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898648"/>
            <a:ext cx="82296" cy="82296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161B"/>
                </a:solidFill>
                <a:latin typeface="Calibri"/>
              </a:rPr>
              <a:t>TDS and TCS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>
                <a:solidFill>
                  <a:srgbClr val="5B6672"/>
                </a:solidFill>
                <a:latin typeface="Calibri"/>
              </a:rPr>
              <a:t>section-wise rules, thresholds, and
Form 16A / 27D generation.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959352"/>
            <a:ext cx="82296" cy="82296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895344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161B"/>
                </a:solidFill>
                <a:latin typeface="Calibri"/>
              </a:rPr>
              <a:t>Payroll statutory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>
                <a:solidFill>
                  <a:srgbClr val="5B6672"/>
                </a:solidFill>
                <a:latin typeface="Calibri"/>
              </a:rPr>
              <a:t>PF, ESI, professional tax and TDS —
posted straight to the ledger.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5020056"/>
            <a:ext cx="82296" cy="82296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956048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161B"/>
                </a:solidFill>
                <a:latin typeface="Calibri"/>
              </a:rPr>
              <a:t>Place-of-supply GST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>
                <a:solidFill>
                  <a:srgbClr val="5B6672"/>
                </a:solidFill>
                <a:latin typeface="Calibri"/>
              </a:rPr>
              <a:t>CGST, SGST and IGST split correctly
on every single invoice.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870448"/>
            <a:ext cx="10545775" cy="603504"/>
          </a:xfrm>
          <a:prstGeom prst="rect">
            <a:avLst/>
          </a:prstGeom>
          <a:solidFill>
            <a:srgbClr val="E4F0EC"/>
          </a:solidFill>
          <a:ln w="9525">
            <a:solidFill>
              <a:srgbClr val="E4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6016752"/>
            <a:ext cx="9905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E6E5E"/>
                </a:solidFill>
                <a:latin typeface="Calibri"/>
              </a:rPr>
              <a:t>Statutory updates are included — never held behind a separate renewal.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E5E"/>
                </a:solidFill>
                <a:latin typeface="Calibri"/>
              </a:rPr>
              <a:t>WHY WE WIN  ·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2161B"/>
                </a:solidFill>
                <a:latin typeface="Georgia"/>
              </a:rPr>
              <a:t>Cloud, without the asterisk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1371600" cy="3175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75104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B6672"/>
                </a:solidFill>
                <a:latin typeface="Calibri"/>
              </a:rPr>
              <a:t>Not a desktop product with remote access bolted on, and not a hosting bill that grows with every user you add.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52928"/>
            <a:ext cx="339242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52928"/>
            <a:ext cx="33924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82112"/>
            <a:ext cx="28803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61B"/>
                </a:solidFill>
                <a:latin typeface="Georgia"/>
              </a:rPr>
              <a:t>Any device</a:t>
            </a:r>
          </a:p>
          <a:p>
            <a:pPr algn="l">
              <a:lnSpc>
                <a:spcPct val="132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5B6672"/>
                </a:solidFill>
                <a:latin typeface="Calibri"/>
              </a:rPr>
              <a:t>A browser is the whole requirement.
Office, home, factory or phone —
the same live books.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852928"/>
            <a:ext cx="339242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852928"/>
            <a:ext cx="33924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182112"/>
            <a:ext cx="28803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61B"/>
                </a:solidFill>
                <a:latin typeface="Georgia"/>
              </a:rPr>
              <a:t>Every user, always</a:t>
            </a:r>
          </a:p>
          <a:p>
            <a:pPr algn="l">
              <a:lnSpc>
                <a:spcPct val="132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5B6672"/>
                </a:solidFill>
                <a:latin typeface="Calibri"/>
              </a:rPr>
              <a:t>Concurrent access included. No
per-seat hosting charge, no server
sitting in the back office.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2852928"/>
            <a:ext cx="339242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2852928"/>
            <a:ext cx="33924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182112"/>
            <a:ext cx="28803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61B"/>
                </a:solidFill>
                <a:latin typeface="Georgia"/>
              </a:rPr>
              <a:t>Safe by default</a:t>
            </a:r>
          </a:p>
          <a:p>
            <a:pPr algn="l">
              <a:lnSpc>
                <a:spcPct val="132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5B6672"/>
                </a:solidFill>
                <a:latin typeface="Calibri"/>
              </a:rPr>
              <a:t>Role-based permissions, approval
chains and a complete audit trail
on every plan.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358384"/>
            <a:ext cx="10545775" cy="640080"/>
          </a:xfrm>
          <a:prstGeom prst="rect">
            <a:avLst/>
          </a:prstGeom>
          <a:solidFill>
            <a:srgbClr val="E4F0EC"/>
          </a:solidFill>
          <a:ln w="9525">
            <a:solidFill>
              <a:srgbClr val="E4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513832"/>
            <a:ext cx="9905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E6E5E"/>
                </a:solidFill>
                <a:latin typeface="Calibri"/>
              </a:rPr>
              <a:t>Nothing to install. Nothing to back up. Nothing to renew before you can log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E5E"/>
                </a:solidFill>
                <a:latin typeface="Calibri"/>
              </a:rPr>
              <a:t>WHY WE WIN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2161B"/>
                </a:solidFill>
                <a:latin typeface="Georgia"/>
              </a:rPr>
              <a:t>Switching takes a week, not a quarter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1371600" cy="3175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75104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B6672"/>
                </a:solidFill>
                <a:latin typeface="Calibri"/>
              </a:rPr>
              <a:t>The reason businesses stay on software they have outgrown is the fear of moving. We removed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339242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9067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E5E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56432"/>
            <a:ext cx="28803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161B"/>
                </a:solidFill>
                <a:latin typeface="Georgia"/>
              </a:rPr>
              <a:t>Import</a:t>
            </a:r>
          </a:p>
          <a:p>
            <a:pPr algn="l">
              <a:lnSpc>
                <a:spcPct val="132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5B6672"/>
                </a:solidFill>
                <a:latin typeface="Calibri"/>
              </a:rPr>
              <a:t>Your existing masters, ledgers, parties,
stock items and vouchers come across
automatically. Included free.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834640"/>
            <a:ext cx="339242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09067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E5E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56432"/>
            <a:ext cx="28803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161B"/>
                </a:solidFill>
                <a:latin typeface="Georgia"/>
              </a:rPr>
              <a:t>Reconcile</a:t>
            </a:r>
          </a:p>
          <a:p>
            <a:pPr algn="l">
              <a:lnSpc>
                <a:spcPct val="132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5B6672"/>
                </a:solidFill>
                <a:latin typeface="Calibri"/>
              </a:rPr>
              <a:t>We match your trial balance to the rupee
as on your chosen cut-off date, before
anyone goes live.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2834640"/>
            <a:ext cx="339242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09067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6E5E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56432"/>
            <a:ext cx="28803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161B"/>
                </a:solidFill>
                <a:latin typeface="Georgia"/>
              </a:rPr>
              <a:t>Go live</a:t>
            </a:r>
          </a:p>
          <a:p>
            <a:pPr algn="l">
              <a:lnSpc>
                <a:spcPct val="132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5B6672"/>
                </a:solidFill>
                <a:latin typeface="Calibri"/>
              </a:rPr>
              <a:t>Training for your team, then you start
billing. Typical go-live is one week
from handover of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468112"/>
            <a:ext cx="10545775" cy="640080"/>
          </a:xfrm>
          <a:prstGeom prst="rect">
            <a:avLst/>
          </a:prstGeom>
          <a:solidFill>
            <a:srgbClr val="E4F0EC"/>
          </a:solidFill>
          <a:ln w="9525">
            <a:solidFill>
              <a:srgbClr val="E4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623560"/>
            <a:ext cx="9905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E6E5E"/>
                </a:solidFill>
                <a:latin typeface="Calibri"/>
              </a:rPr>
              <a:t>Go-live means one thing in our contract: your trial balance matches, to the rupee.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E5E"/>
                </a:solidFill>
                <a:latin typeface="Calibri"/>
              </a:rPr>
              <a:t>THE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2161B"/>
                </a:solidFill>
                <a:latin typeface="Georgia"/>
              </a:rPr>
              <a:t>What the same capability costs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1371600" cy="3175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75104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B6672"/>
                </a:solidFill>
                <a:latin typeface="Calibri"/>
              </a:rPr>
              <a:t>Annual cost for a 25-person business. Perpetual licences shown as their true annual cost over three years. All figures exclude GST.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761488"/>
          <a:ext cx="10543032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206240"/>
                <a:gridCol w="2221992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you need</a:t>
                      </a:r>
                    </a:p>
                  </a:txBody>
                  <a:tcPr anchor="ctr" marL="128016" marR="91440" marT="36576" marB="36576"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the market charges</a:t>
                      </a:r>
                    </a:p>
                  </a:txBody>
                  <a:tcPr anchor="ctr" marL="128016" marR="91440" marT="36576" marB="36576">
                    <a:solidFill>
                      <a:srgbClr val="121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AccuBook</a:t>
                      </a:r>
                    </a:p>
                  </a:txBody>
                  <a:tcPr anchor="ctr" marL="128016" marR="91440" marT="36576" marB="36576">
                    <a:solidFill>
                      <a:srgbClr val="0E6E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2161B"/>
                          </a:solidFill>
                          <a:latin typeface="Calibri"/>
                        </a:rPr>
                        <a:t>Accounting, GST billing, books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5B6672"/>
                          </a:solidFill>
                          <a:latin typeface="Calibri"/>
                        </a:rPr>
                        <a:t>₹10,500 – ₹10,800 / year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E6E5E"/>
                          </a:solidFill>
                          <a:latin typeface="Calibri"/>
                        </a:rPr>
                        <a:t>₹4,800 / year</a:t>
                      </a:r>
                    </a:p>
                  </a:txBody>
                  <a:tcPr anchor="ctr" marL="128016" marR="91440" marT="36576" marB="36576">
                    <a:solidFill>
                      <a:srgbClr val="E4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2161B"/>
                          </a:solidFill>
                          <a:latin typeface="Calibri"/>
                        </a:rPr>
                        <a:t>GST returns and 2B reconciliation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5B6672"/>
                          </a:solidFill>
                          <a:latin typeface="Calibri"/>
                        </a:rPr>
                        <a:t>Compliance suites, quoted separately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E6E5E"/>
                          </a:solidFill>
                          <a:latin typeface="Calibri"/>
                        </a:rPr>
                        <a:t>Included</a:t>
                      </a:r>
                    </a:p>
                  </a:txBody>
                  <a:tcPr anchor="ctr" marL="128016" marR="91440" marT="36576" marB="36576">
                    <a:solidFill>
                      <a:srgbClr val="E4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2161B"/>
                          </a:solidFill>
                          <a:latin typeface="Calibri"/>
                        </a:rPr>
                        <a:t>Payroll, PF / ESI / PT / TDS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5B6672"/>
                          </a:solidFill>
                          <a:latin typeface="Calibri"/>
                        </a:rPr>
                        <a:t>₹12,000 – ₹84,000 / year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E6E5E"/>
                          </a:solidFill>
                          <a:latin typeface="Calibri"/>
                        </a:rPr>
                        <a:t>Included</a:t>
                      </a:r>
                    </a:p>
                  </a:txBody>
                  <a:tcPr anchor="ctr" marL="128016" marR="91440" marT="36576" marB="36576">
                    <a:solidFill>
                      <a:srgbClr val="E4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2161B"/>
                          </a:solidFill>
                          <a:latin typeface="Calibri"/>
                        </a:rPr>
                        <a:t>Attendance, leave, expense claims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5B6672"/>
                          </a:solidFill>
                          <a:latin typeface="Calibri"/>
                        </a:rPr>
                        <a:t>₹30,000 – ₹84,000 / year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E6E5E"/>
                          </a:solidFill>
                          <a:latin typeface="Calibri"/>
                        </a:rPr>
                        <a:t>Included</a:t>
                      </a:r>
                    </a:p>
                  </a:txBody>
                  <a:tcPr anchor="ctr" marL="128016" marR="91440" marT="36576" marB="36576">
                    <a:solidFill>
                      <a:srgbClr val="E4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2161B"/>
                          </a:solidFill>
                          <a:latin typeface="Calibri"/>
                        </a:rPr>
                        <a:t>Multi-warehouse inventory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5B6672"/>
                          </a:solidFill>
                          <a:latin typeface="Calibri"/>
                        </a:rPr>
                        <a:t>₹8,100 – ₹31,500 / year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E6E5E"/>
                          </a:solidFill>
                          <a:latin typeface="Calibri"/>
                        </a:rPr>
                        <a:t>₹12,000 / year</a:t>
                      </a:r>
                    </a:p>
                  </a:txBody>
                  <a:tcPr anchor="ctr" marL="128016" marR="91440" marT="36576" marB="36576">
                    <a:solidFill>
                      <a:srgbClr val="E4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2161B"/>
                          </a:solidFill>
                          <a:latin typeface="Calibri"/>
                        </a:rPr>
                        <a:t>Manufacturing — BOM, work orders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5B6672"/>
                          </a:solidFill>
                          <a:latin typeface="Calibri"/>
                        </a:rPr>
                        <a:t>₹2,67,000 / year + ₹3–25 lakh setup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E6E5E"/>
                          </a:solidFill>
                          <a:latin typeface="Calibri"/>
                        </a:rPr>
                        <a:t>₹30,000 / year</a:t>
                      </a:r>
                    </a:p>
                  </a:txBody>
                  <a:tcPr anchor="ctr" marL="128016" marR="91440" marT="36576" marB="36576">
                    <a:solidFill>
                      <a:srgbClr val="E4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2161B"/>
                          </a:solidFill>
                          <a:latin typeface="Calibri"/>
                        </a:rPr>
                        <a:t>Cloud access for every user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5B6672"/>
                          </a:solidFill>
                          <a:latin typeface="Calibri"/>
                        </a:rPr>
                        <a:t>Billed per user, per month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E6E5E"/>
                          </a:solidFill>
                          <a:latin typeface="Calibri"/>
                        </a:rPr>
                        <a:t>Included</a:t>
                      </a:r>
                    </a:p>
                  </a:txBody>
                  <a:tcPr anchor="ctr" marL="128016" marR="91440" marT="36576" marB="36576">
                    <a:solidFill>
                      <a:srgbClr val="E4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2161B"/>
                          </a:solidFill>
                          <a:latin typeface="Calibri"/>
                        </a:rPr>
                        <a:t>Everything above, one business</a:t>
                      </a:r>
                    </a:p>
                  </a:txBody>
                  <a:tcPr anchor="ctr" marL="128016" marR="91440" marT="36576" marB="36576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2161B"/>
                          </a:solidFill>
                          <a:latin typeface="Calibri"/>
                        </a:rPr>
                        <a:t>₹93,000+ across 3–4 vendors</a:t>
                      </a:r>
                    </a:p>
                  </a:txBody>
                  <a:tcPr anchor="ctr" marL="128016" marR="91440" marT="36576" marB="36576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₹30,000, one product</a:t>
                      </a:r>
                    </a:p>
                  </a:txBody>
                  <a:tcPr anchor="ctr" marL="128016" marR="91440" marT="36576" marB="36576">
                    <a:solidFill>
                      <a:srgbClr val="0E6E5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6382512"/>
            <a:ext cx="1054577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39E"/>
                </a:solidFill>
                <a:latin typeface="Calibri"/>
              </a:rPr>
              <a:t>Market pricing verified August 2026 from published vendor rate cards. Competitor figures move with the fiscal year.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E5E"/>
                </a:solidFill>
                <a:latin typeface="Calibri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2161B"/>
                </a:solidFill>
                <a:latin typeface="Georgia"/>
              </a:rPr>
              <a:t>Priced per business, not per 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1371600" cy="3175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75104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B6672"/>
                </a:solidFill>
                <a:latin typeface="Calibri"/>
              </a:rPr>
              <a:t>Billed annually, excluding GST. Add users and branches without changing plans.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88920"/>
            <a:ext cx="2478024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24780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3035808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B6672"/>
                </a:solidFill>
                <a:latin typeface="Calibri"/>
              </a:rPr>
              <a:t>STARTER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3346704"/>
            <a:ext cx="20756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Georgia"/>
              </a:rPr>
              <a:t>₹4,800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3858768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672"/>
                </a:solidFill>
                <a:latin typeface="Calibri"/>
              </a:rPr>
              <a:t>per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224528"/>
            <a:ext cx="207568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3 users, 1 branch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GST billing and returns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Banking and reconciliation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Free data migration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7288" y="2788920"/>
            <a:ext cx="2478024" cy="2788920"/>
          </a:xfrm>
          <a:prstGeom prst="rect">
            <a:avLst/>
          </a:prstGeom>
          <a:solidFill>
            <a:srgbClr val="E4F0EC"/>
          </a:solidFill>
          <a:ln w="9525">
            <a:solidFill>
              <a:srgbClr val="0E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7288" y="2788920"/>
            <a:ext cx="2478024" cy="508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3035808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6E5E"/>
                </a:solidFill>
                <a:latin typeface="Calibri"/>
              </a:rPr>
              <a:t>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3346704"/>
            <a:ext cx="20756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Georgia"/>
              </a:rPr>
              <a:t>₹12,000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3858768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672"/>
                </a:solidFill>
                <a:latin typeface="Calibri"/>
              </a:rPr>
              <a:t>per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4224528"/>
            <a:ext cx="207568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10 users, 3 branches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Everything in Starter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E-invoice, TDS/TCS, GSTR-9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Payroll up to 25 staff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1616" y="2788920"/>
            <a:ext cx="2478024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2788920"/>
            <a:ext cx="24780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3035808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B6672"/>
                </a:solidFill>
                <a:latin typeface="Calibri"/>
              </a:rPr>
              <a:t>BUSINESS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346704"/>
            <a:ext cx="20756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Georgia"/>
              </a:rPr>
              <a:t>₹30,000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858768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672"/>
                </a:solidFill>
                <a:latin typeface="Calibri"/>
              </a:rPr>
              <a:t>per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4224528"/>
            <a:ext cx="207568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25 users, unlimited branches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Manufacturing and BOM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Payroll up to 100 staff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REST API and custom reports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95944" y="2788920"/>
            <a:ext cx="2478024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95944" y="2788920"/>
            <a:ext cx="2478024" cy="381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3035808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B6672"/>
                </a:solidFill>
                <a:latin typeface="Calibri"/>
              </a:rPr>
              <a:t>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346704"/>
            <a:ext cx="20756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Georgia"/>
              </a:rPr>
              <a:t>₹90,000+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3858768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672"/>
                </a:solidFill>
                <a:latin typeface="Calibri"/>
              </a:rPr>
              <a:t>quoted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4224528"/>
            <a:ext cx="207568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Unlimited users and entities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Group consolidation, SSO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Dedicated database and SLA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B6672"/>
                </a:solidFill>
                <a:latin typeface="Calibri"/>
              </a:rPr>
              <a:t>Named account 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52160"/>
            <a:ext cx="1054577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39E"/>
                </a:solidFill>
                <a:latin typeface="Calibri"/>
              </a:rPr>
              <a:t>One-time deployment: free self-serve on Starter · ₹18,000 on Growth · ₹45,000 on Business. Covers setup, data migration, opening balances and training.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One platform.
Every compliance requirement.
A third of the cost.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526280"/>
            <a:ext cx="1371600" cy="31750"/>
          </a:xfrm>
          <a:prstGeom prst="rect">
            <a:avLst/>
          </a:prstGeom>
          <a:solidFill>
            <a:srgbClr val="0E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2DA"/>
                </a:solidFill>
                <a:latin typeface="Calibri"/>
              </a:rPr>
              <a:t>Book a walkthrough on your own books — we will import your data and show you your
numbers, before you decide anything.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